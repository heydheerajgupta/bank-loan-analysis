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B2333"/>
                </a:solidFill>
                <a:latin typeface="Cambria"/>
              </a:rPr>
              <a:t>Loan Amount by Year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 Amount ($M)</c:v>
                </c:pt>
              </c:strCache>
            </c:strRef>
          </c:tx>
          <c:spPr>
            <a:ln w="38100" cap="flat">
              <a:solidFill>
                <a:srgbClr val="B0894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08942"/>
              </a:solidFill>
              <a:ln w="9525" cap="flat">
                <a:solidFill>
                  <a:srgbClr val="B08942"/>
                </a:solidFill>
                <a:prstDash val="solid"/>
                <a:round/>
              </a:ln>
              <a:effectLst/>
            </c:spPr>
          </c:marker>
          <c:dLbls>
            <c:numFmt formatCode="&quot;$&quot;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2.2200000000000002</c:v>
                </c:pt>
                <c:pt idx="1">
                  <c:v>14.39</c:v>
                </c:pt>
                <c:pt idx="2">
                  <c:v>46.44</c:v>
                </c:pt>
                <c:pt idx="3">
                  <c:v>122.05</c:v>
                </c:pt>
                <c:pt idx="4">
                  <c:v>260.51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B9-4D33-AA62-9C1D65D7017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8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B2333"/>
                </a:solidFill>
                <a:latin typeface="Cambria"/>
              </a:rPr>
              <a:t>Revolving Balance by Grade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Revolving Balance ($M)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0-4258-B7DD-B692BCDF729D}"/>
              </c:ext>
            </c:extLst>
          </c:dPt>
          <c:dPt>
            <c:idx val="1"/>
            <c:invertIfNegative val="0"/>
            <c:bubble3D val="0"/>
            <c:spPr>
              <a:solidFill>
                <a:srgbClr val="B08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0-4258-B7DD-B692BCDF729D}"/>
              </c:ext>
            </c:extLst>
          </c:dPt>
          <c:dPt>
            <c:idx val="2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F0-4258-B7DD-B692BCDF729D}"/>
              </c:ext>
            </c:extLst>
          </c:dPt>
          <c:dPt>
            <c:idx val="3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F0-4258-B7DD-B692BCDF729D}"/>
              </c:ext>
            </c:extLst>
          </c:dPt>
          <c:dPt>
            <c:idx val="4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FF0-4258-B7DD-B692BCDF729D}"/>
              </c:ext>
            </c:extLst>
          </c:dPt>
          <c:dPt>
            <c:idx val="5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FF0-4258-B7DD-B692BCDF729D}"/>
              </c:ext>
            </c:extLst>
          </c:dPt>
          <c:dPt>
            <c:idx val="6"/>
            <c:invertIfNegative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FF0-4258-B7DD-B692BCDF729D}"/>
              </c:ext>
            </c:extLst>
          </c:dPt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114.77</c:v>
                </c:pt>
                <c:pt idx="1">
                  <c:v>161.31</c:v>
                </c:pt>
                <c:pt idx="2">
                  <c:v>110.12</c:v>
                </c:pt>
                <c:pt idx="3">
                  <c:v>74.489999999999995</c:v>
                </c:pt>
                <c:pt idx="4">
                  <c:v>46.07</c:v>
                </c:pt>
                <c:pt idx="5">
                  <c:v>18.28</c:v>
                </c:pt>
                <c:pt idx="6">
                  <c:v>6.46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FF0-4258-B7DD-B692BCDF72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8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Verification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C93-428D-8232-0CA69C66FDFA}"/>
              </c:ext>
            </c:extLst>
          </c:dPt>
          <c:dPt>
            <c:idx val="1"/>
            <c:bubble3D val="0"/>
            <c:spPr>
              <a:solidFill>
                <a:srgbClr val="B08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93-428D-8232-0CA69C66FDFA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93-428D-8232-0CA69C66FDFA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93-428D-8232-0CA69C66FDFA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Verified</c:v>
                </c:pt>
                <c:pt idx="1">
                  <c:v>Non-verified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68.19</c:v>
                </c:pt>
                <c:pt idx="1">
                  <c:v>31.81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93-428D-8232-0CA69C66FD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B2333"/>
                </a:solidFill>
                <a:latin typeface="Cambria"/>
              </a:rPr>
              <a:t>Applications by State (Top 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E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</c:v>
                </c:pt>
                <c:pt idx="1">
                  <c:v>NY</c:v>
                </c:pt>
                <c:pt idx="2">
                  <c:v>FL</c:v>
                </c:pt>
                <c:pt idx="3">
                  <c:v>TX</c:v>
                </c:pt>
                <c:pt idx="4">
                  <c:v>NJ</c:v>
                </c:pt>
                <c:pt idx="5">
                  <c:v>IL</c:v>
                </c:pt>
                <c:pt idx="6">
                  <c:v>PA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7099</c:v>
                </c:pt>
                <c:pt idx="1">
                  <c:v>3800</c:v>
                </c:pt>
                <c:pt idx="2">
                  <c:v>2900</c:v>
                </c:pt>
                <c:pt idx="3">
                  <c:v>2700</c:v>
                </c:pt>
                <c:pt idx="4">
                  <c:v>1900</c:v>
                </c:pt>
                <c:pt idx="5">
                  <c:v>1500</c:v>
                </c:pt>
                <c:pt idx="6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F3-46AF-8B64-6D57E25627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89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2743200" cy="0"/>
          </a:xfrm>
          <a:prstGeom prst="line">
            <a:avLst/>
          </a:prstGeom>
          <a:noFill/>
          <a:ln w="19050">
            <a:solidFill>
              <a:srgbClr val="B08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8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ANALYSIS  ·  2007–2011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4304F"/>
          </a:solidFill>
          <a:ln w="12700">
            <a:solidFill>
              <a:srgbClr val="3B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10512" y="43434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4304F"/>
          </a:solidFill>
          <a:ln w="12700">
            <a:solidFill>
              <a:srgbClr val="3B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4343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98064" y="43434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24304F"/>
          </a:solidFill>
          <a:ln w="12700">
            <a:solidFill>
              <a:srgbClr val="3B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434340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87368" y="434340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24304F"/>
          </a:solidFill>
          <a:ln w="12700">
            <a:solidFill>
              <a:srgbClr val="3B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4343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0533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Dheeraj Gupta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dataset, five questions, four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1605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10332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bank loan data to understand loan performance, borrower characteristics, payment behavior, and loan status.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loan records into structured analysis, KPI calculations, SQL results, and interactive dashboards.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same five project questions across Excel, MySQL, Power BI, and Tableau.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work as one end-to-end analytics case study, prepared by Dheeraj Gupta, while keeping each tool's working file separate.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project KPIs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KPI questions supplied for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75104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loan amount statistics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91672" cy="841248"/>
          </a:xfrm>
          <a:prstGeom prst="rect">
            <a:avLst/>
          </a:prstGeom>
          <a:solidFill>
            <a:srgbClr val="E7ECF4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624328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 and sub-grade-wise revolving balance (revol_bal)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465576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for Verified Status vs. Total Payment for Non-Verified Status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11091672" cy="841248"/>
          </a:xfrm>
          <a:prstGeom prst="rect">
            <a:avLst/>
          </a:prstGeom>
          <a:solidFill>
            <a:srgbClr val="E7ECF4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30682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and month-wise loan status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48640" y="5148072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5148072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vs. last payment date statistics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965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47672"/>
            <a:ext cx="420624" cy="420624"/>
          </a:xfrm>
          <a:prstGeom prst="ellipse">
            <a:avLst/>
          </a:prstGeom>
          <a:solidFill>
            <a:srgbClr val="B089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53288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95351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calculations · charts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15184" cy="1965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602736" y="1947672"/>
            <a:ext cx="420624" cy="420624"/>
          </a:xfrm>
          <a:prstGeom prst="ellipse">
            <a:avLst/>
          </a:prstGeom>
          <a:solidFill>
            <a:srgbClr val="B08942"/>
          </a:solidFill>
          <a:ln/>
        </p:spPr>
      </p:sp>
      <p:sp>
        <p:nvSpPr>
          <p:cNvPr id="11" name="Text 9"/>
          <p:cNvSpPr/>
          <p:nvPr/>
        </p:nvSpPr>
        <p:spPr>
          <a:xfrm>
            <a:off x="3602736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02736" y="253288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02736" y="295351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· joins · aggregations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15184" cy="1965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947672"/>
            <a:ext cx="420624" cy="420624"/>
          </a:xfrm>
          <a:prstGeom prst="ellipse">
            <a:avLst/>
          </a:prstGeom>
          <a:solidFill>
            <a:srgbClr val="B089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253288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37376" y="295351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DAX · interactive dashboard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15184" cy="1965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2016" y="1947672"/>
            <a:ext cx="420624" cy="420624"/>
          </a:xfrm>
          <a:prstGeom prst="ellipse">
            <a:avLst/>
          </a:prstGeom>
          <a:solidFill>
            <a:srgbClr val="B08942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2016" y="253288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72016" y="2953512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· trend analysis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9424" y="416052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59152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9152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59936" y="416052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69664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70448" y="416052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80176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416052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90688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0688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91472" y="416052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0" y="4160520"/>
            <a:ext cx="1700784" cy="502920"/>
          </a:xfrm>
          <a:prstGeom prst="roundRect">
            <a:avLst>
              <a:gd name="adj" fmla="val 49091"/>
            </a:avLst>
          </a:prstGeom>
          <a:solidFill>
            <a:srgbClr val="E7ECF4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41605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outputs remain aligned to the same five project questions across every tool.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PROJECT METRICS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 reported across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928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39,717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88536" y="1691640"/>
            <a:ext cx="3611880" cy="14173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8" name="Text 6"/>
          <p:cNvSpPr/>
          <p:nvPr/>
        </p:nvSpPr>
        <p:spPr>
          <a:xfrm>
            <a:off x="4517136" y="18928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$445.6M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17136" y="2532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691640"/>
            <a:ext cx="3611880" cy="14173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1" name="Text 9"/>
          <p:cNvSpPr/>
          <p:nvPr/>
        </p:nvSpPr>
        <p:spPr>
          <a:xfrm>
            <a:off x="8257032" y="18928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$434.81M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57032" y="2532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3611880" cy="14173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$482.7M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40782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88536" y="3236976"/>
            <a:ext cx="3611880" cy="14173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34381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12.02%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17136" y="40782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3236976"/>
            <a:ext cx="3611880" cy="14173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20" name="Text 18"/>
          <p:cNvSpPr/>
          <p:nvPr/>
        </p:nvSpPr>
        <p:spPr>
          <a:xfrm>
            <a:off x="8257032" y="34381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13.32%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57032" y="40782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analysis</a:t>
            </a: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covers loan amount, interest rate, DTI and loan status.   </a:t>
            </a: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includes home ownership, state, grade and sub-grade.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Year-wise loan amount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dashboards report strong growth in lending volume from 2007 to 2011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91640"/>
            <a:ext cx="3410712" cy="448056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117×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50392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$2.22M (2007) to $260.51M (2011)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3703320"/>
            <a:ext cx="288036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0" y="388620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 </a:t>
            </a: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$2.22M
</a:t>
            </a: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 </a:t>
            </a: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$260.51M
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displayed series shows a substantial, accelerating increase in lending volume across the period.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&amp; sub-grade-wise revolving balance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reports the largest grade-level revolving balance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91640"/>
            <a:ext cx="3410712" cy="448056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grades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098280" y="2386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$161.31M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0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98280" y="2953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$114.77M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03920" y="34655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09828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$110.12M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503920" y="4078224"/>
            <a:ext cx="288036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261104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tapers sharply from Grade B through Grade G, which holds the smallest revolving balance at $6.46M.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vs. non-verified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distribution reported across the dashboards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73736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737360"/>
            <a:ext cx="4873752" cy="438912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68.19%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866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86600" y="3108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31.81%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866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Non-verified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86600" y="4206240"/>
            <a:ext cx="4206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4434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compares total payment between these two verification groups. Exact payment totals are reported in the corresponding Excel, SQL and BI project outputs.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State-wise &amp; month-wise loan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analytical views are used to answer one KPI question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691640"/>
            <a:ext cx="4114800" cy="214884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4"/>
          <p:cNvSpPr/>
          <p:nvPr/>
        </p:nvSpPr>
        <p:spPr>
          <a:xfrm>
            <a:off x="7799832" y="1874520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99832" y="2240280"/>
            <a:ext cx="3602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 axis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loan records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as legend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status across states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3800" y="4023360"/>
            <a:ext cx="4114800" cy="214884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0" name="Text 7"/>
          <p:cNvSpPr/>
          <p:nvPr/>
        </p:nvSpPr>
        <p:spPr>
          <a:xfrm>
            <a:off x="7799832" y="4206240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99832" y="4572000"/>
            <a:ext cx="3602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 axis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loan records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as legend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across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ownership vs. last payment 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dashboards compare monthly last-payment amounts across home-ownership groups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68880" y="2075688"/>
            <a:ext cx="6583680" cy="2926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2075688"/>
            <a:ext cx="6583680" cy="2926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8" name="Text 6"/>
          <p:cNvSpPr/>
          <p:nvPr/>
        </p:nvSpPr>
        <p:spPr>
          <a:xfrm>
            <a:off x="918972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2944368"/>
            <a:ext cx="6583680" cy="2926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2944368"/>
            <a:ext cx="4081882" cy="292608"/>
          </a:xfrm>
          <a:prstGeom prst="rect">
            <a:avLst/>
          </a:prstGeom>
          <a:solidFill>
            <a:srgbClr val="B089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897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68880" y="3813048"/>
            <a:ext cx="6583680" cy="2926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813048"/>
            <a:ext cx="1580083" cy="292608"/>
          </a:xfrm>
          <a:prstGeom prst="rect">
            <a:avLst/>
          </a:prstGeom>
          <a:solidFill>
            <a:srgbClr val="A23E35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06070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9377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show the highest last-payment amounts in most displayed months. </a:t>
            </a:r>
            <a:r>
              <a:rPr lang="en-US" sz="14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next prominent group, while other home-ownership categories sit consistently lower. This KPI connects home-ownership type with payment behavior over time.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16685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8F5190-9419-02EE-9833-E940981C1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6" y="656765"/>
            <a:ext cx="10767187" cy="5799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Querying, joins, aggregations and data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233172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bank_loan_analysis.sql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issue_year,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SUM(loan_amnt) AS total_loan_amount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loan_data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issue_year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issue_year;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3383280" cy="123444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44165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to KPI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480060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results and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4251960"/>
            <a:ext cx="3383280" cy="1234440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44165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34256" y="480060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 across Excel, Power BI and Tableau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1691640"/>
            <a:ext cx="3822192" cy="37947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965960"/>
            <a:ext cx="32735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was used for KPI queries, joins, aggregations and validation.
</a:t>
            </a:r>
            <a:r>
              <a:rPr lang="en-US" sz="13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project questions were solved separately in the SQL module.
SQL outputs can be cross-checked with Excel, Power BI and Tableau results.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-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500299-5018-C345-8BDC-811107F2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95" y="861625"/>
            <a:ext cx="9959809" cy="55924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8863" y="24063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7680960" cy="3739896"/>
          </a:xfrm>
          <a:prstGeom prst="rect">
            <a:avLst/>
          </a:prstGeom>
          <a:ln w="15875">
            <a:solidFill>
              <a:srgbClr val="D9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A4C6F5-385D-06EA-C021-6F433208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47" y="664143"/>
            <a:ext cx="9249305" cy="57753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patterns directly supported by the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019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39,717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applications analyzed end to 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737360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9" name="Text 7"/>
          <p:cNvSpPr/>
          <p:nvPr/>
        </p:nvSpPr>
        <p:spPr>
          <a:xfrm>
            <a:off x="4489704" y="19019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82.96%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9704" y="24505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 vs. 14.17% Charged Off, and a small Current share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28432" y="1737360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9019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$2.22M  &gt;  $260.51M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245059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volume growth from 2007 to 2011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511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7,099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" y="4059936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applications — the highest of any state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88536" y="3346704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3511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$161.31M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9704" y="4059936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revolving balance — the largest of any grade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28432" y="3346704"/>
            <a:ext cx="3611880" cy="148132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511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68.19% / 31.81%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4059936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vs. non-verified payment 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47488"/>
            <a:ext cx="11091672" cy="77724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47488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 from the Power BI model: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consolidation is the single largest loan purpose, accounting for roughly $236.6M of funded loans.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08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analytical workflow handled practical project issues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2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related datasets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800" y="1874520"/>
            <a:ext cx="0" cy="566928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32120" y="2103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lookups, relationships and joins to connect analysis.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1091672" cy="841248"/>
          </a:xfrm>
          <a:prstGeom prst="rect">
            <a:avLst/>
          </a:prstGeom>
          <a:solidFill>
            <a:srgbClr val="E7ECF4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2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raw data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57800" y="2715768"/>
            <a:ext cx="0" cy="566928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32120" y="294436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formats and validated fields before analysis.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2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KPI calculations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257800" y="3557016"/>
            <a:ext cx="0" cy="566928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378561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 results across all four analytical tools.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61104"/>
            <a:ext cx="11091672" cy="841248"/>
          </a:xfrm>
          <a:prstGeom prst="rect">
            <a:avLst/>
          </a:prstGeom>
          <a:solidFill>
            <a:srgbClr val="E7ECF4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2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46268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dashboard design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57800" y="4398264"/>
            <a:ext cx="0" cy="566928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46268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slicers, filters and consistent visual structures.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30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2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5468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tool files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257800" y="5239512"/>
            <a:ext cx="0" cy="566928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5230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32120" y="54681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one shared KPI framework across Excel, SQL, Power BI and Tableau.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bank loan data into structured KPI analysis and interactive dashboards.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official project questions were addressed across Excel, MySQL, Power BI and Tableau.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data preparation, SQL querying, KPI calculations, data modeling, visualization and dashboard development.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clear views of loan growth, loan status, revolving balance, verification status, state distribution and payment behavior.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as one end-to-end analytics case study with separate tool files and a common KPI framework.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623560"/>
            <a:ext cx="2743200" cy="0"/>
          </a:xfrm>
          <a:prstGeom prst="line">
            <a:avLst/>
          </a:prstGeom>
          <a:noFill/>
          <a:ln w="19050">
            <a:solidFill>
              <a:srgbClr val="B0894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Analysis  ·  Excel  ·  MySQL  ·  Power BI  ·  Tableau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2194560" cy="0"/>
          </a:xfrm>
          <a:prstGeom prst="line">
            <a:avLst/>
          </a:prstGeom>
          <a:noFill/>
          <a:ln w="19050">
            <a:solidFill>
              <a:srgbClr val="B08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Dheeraj Gupta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1020</Words>
  <Application>Microsoft Office PowerPoint</Application>
  <PresentationFormat>Widescreen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Dheeraj Gupta</cp:lastModifiedBy>
  <cp:revision>2</cp:revision>
  <dcterms:created xsi:type="dcterms:W3CDTF">2026-09-16T11:28:40Z</dcterms:created>
  <dcterms:modified xsi:type="dcterms:W3CDTF">2026-09-16T12:36:33Z</dcterms:modified>
</cp:coreProperties>
</file>